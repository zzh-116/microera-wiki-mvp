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0" r:id="rId2"/>
    <p:sldId id="256" r:id="rId3"/>
    <p:sldId id="257" r:id="rId4"/>
    <p:sldId id="258" r:id="rId5"/>
    <p:sldId id="267" r:id="rId6"/>
    <p:sldId id="259" r:id="rId7"/>
    <p:sldId id="272" r:id="rId8"/>
    <p:sldId id="262" r:id="rId9"/>
    <p:sldId id="261" r:id="rId10"/>
    <p:sldId id="263" r:id="rId11"/>
    <p:sldId id="271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8" userDrawn="1">
          <p15:clr>
            <a:srgbClr val="A4A3A4"/>
          </p15:clr>
        </p15:guide>
        <p15:guide id="2" pos="38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51" d="100"/>
          <a:sy n="151" d="100"/>
        </p:scale>
        <p:origin x="104" y="312"/>
      </p:cViewPr>
      <p:guideLst>
        <p:guide orient="horz" pos="2128"/>
        <p:guide pos="386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wmf"/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image" Target="../media/image10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5.wmf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2026/6/22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wmf"/><Relationship Id="rId2" Type="http://schemas.openxmlformats.org/officeDocument/2006/relationships/tags" Target="../tags/tag65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7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9.wmf"/><Relationship Id="rId4" Type="http://schemas.openxmlformats.org/officeDocument/2006/relationships/oleObject" Target="../embeddings/oleObject3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1.wmf"/><Relationship Id="rId2" Type="http://schemas.openxmlformats.org/officeDocument/2006/relationships/tags" Target="../tags/tag67.xml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10.wmf"/><Relationship Id="rId4" Type="http://schemas.openxmlformats.org/officeDocument/2006/relationships/oleObject" Target="../embeddings/oleObject4.bin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.bin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8.png"/><Relationship Id="rId2" Type="http://schemas.openxmlformats.org/officeDocument/2006/relationships/tags" Target="../tags/tag68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4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0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7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tags" Target="../tags/tag71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0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wmf"/><Relationship Id="rId3" Type="http://schemas.openxmlformats.org/officeDocument/2006/relationships/slideLayout" Target="../slideLayouts/slideLayout2.xml"/><Relationship Id="rId7" Type="http://schemas.openxmlformats.org/officeDocument/2006/relationships/oleObject" Target="../embeddings/oleObject9.bin"/><Relationship Id="rId2" Type="http://schemas.openxmlformats.org/officeDocument/2006/relationships/tags" Target="../tags/tag72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21.png"/><Relationship Id="rId5" Type="http://schemas.openxmlformats.org/officeDocument/2006/relationships/image" Target="../media/image27.png"/><Relationship Id="rId4" Type="http://schemas.openxmlformats.org/officeDocument/2006/relationships/image" Target="../media/image2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7469738a4924eab1fb5531de9bd757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480" y="988060"/>
            <a:ext cx="8067040" cy="48818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对象 3"/>
              <p:cNvSpPr txBox="1"/>
              <p:nvPr/>
            </p:nvSpPr>
            <p:spPr>
              <a:xfrm>
                <a:off x="555625" y="4632325"/>
                <a:ext cx="9283700" cy="579438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𝑃𝑍𝐷𝐶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𝑁𝑎𝑂𝐻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𝑃𝑍𝐷𝐶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4" name="对象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25" y="4632325"/>
                <a:ext cx="9283700" cy="5794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629920" y="4147820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步骤一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76860" y="331343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29920" y="5507990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对象 10"/>
              <p:cNvSpPr txBox="1"/>
              <p:nvPr/>
            </p:nvSpPr>
            <p:spPr>
              <a:xfrm>
                <a:off x="630238" y="5810250"/>
                <a:ext cx="11263312" cy="66040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𝑃𝑍𝐷𝐶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𝐴𝑙𝐶𝑙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3⋅6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加热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水热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 </m:t>
                          </m:r>
                        </m:e>
                      </m:groupCh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𝐴𝑙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𝑂𝐻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)(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𝑃𝑍𝐷𝐶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𝑁𝑎𝐶𝑙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1" name="对象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38" y="5810250"/>
                <a:ext cx="11263312" cy="660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 descr="ed159f72e1a9820cb3a6e2893f7da0b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1700" y="944880"/>
            <a:ext cx="5672455" cy="270256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276860" y="238125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/>
              <a:t>MOF-303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77190" y="2517140"/>
            <a:ext cx="164528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氯化铝六水合物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09905" y="2854325"/>
            <a:ext cx="130810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AlCl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3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·6H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5019675" y="2854325"/>
            <a:ext cx="86995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NaOH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292985" y="2517140"/>
            <a:ext cx="239395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3,5-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吡唑二羧酸一水合物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665095" y="2856230"/>
            <a:ext cx="159448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5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N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· 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" y="1031875"/>
            <a:ext cx="1550670" cy="1398270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4902200" y="2517140"/>
            <a:ext cx="112395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氢氧化钠</a:t>
            </a:r>
          </a:p>
        </p:txBody>
      </p:sp>
      <p:pic>
        <p:nvPicPr>
          <p:cNvPr id="25" name="图片 24" descr="dd11ab39867c077ec6e67eb2d263945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3315" y="1031875"/>
            <a:ext cx="1557020" cy="139573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030" y="342265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步骤一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733425" y="859155"/>
            <a:ext cx="1633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NaOH</a:t>
            </a:r>
            <a:r>
              <a:rPr lang="zh-CN" altLang="en-US"/>
              <a:t>过少时</a:t>
            </a:r>
          </a:p>
        </p:txBody>
      </p:sp>
      <p:graphicFrame>
        <p:nvGraphicFramePr>
          <p:cNvPr id="5" name="对象 4"/>
          <p:cNvGraphicFramePr/>
          <p:nvPr/>
        </p:nvGraphicFramePr>
        <p:xfrm>
          <a:off x="1203325" y="1496060"/>
          <a:ext cx="8488680" cy="6388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" r:id="rId4" imgW="3251200" imgH="228600" progId="Equation.DSMT4">
                  <p:embed/>
                </p:oleObj>
              </mc:Choice>
              <mc:Fallback>
                <p:oleObj r:id="rId4" imgW="3251200" imgH="228600" progId="Equation.DSMT4">
                  <p:embed/>
                  <p:pic>
                    <p:nvPicPr>
                      <p:cNvPr id="0" name="图片 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203325" y="1496060"/>
                        <a:ext cx="8488680" cy="6388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733425" y="3134360"/>
            <a:ext cx="1633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NaOH</a:t>
            </a:r>
            <a:r>
              <a:rPr lang="zh-CN" altLang="en-US"/>
              <a:t>过量时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33425" y="6163945"/>
            <a:ext cx="345948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1600" b="0" i="0">
                <a:solidFill>
                  <a:srgbClr val="000000"/>
                </a:solidFill>
                <a:ea typeface="Inter"/>
                <a:cs typeface="+mn-lt"/>
              </a:rPr>
              <a:t>1.</a:t>
            </a:r>
            <a:r>
              <a:rPr lang="zh-CN" altLang="en-US" sz="1600" b="0" i="0">
                <a:solidFill>
                  <a:srgbClr val="000000"/>
                </a:solidFill>
                <a:ea typeface="Inter"/>
                <a:cs typeface="+mn-lt"/>
              </a:rPr>
              <a:t>溶液碱性过强，抑制 </a:t>
            </a:r>
            <a:r>
              <a:rPr lang="en-US" altLang="zh-CN" sz="1600" b="0" i="0">
                <a:solidFill>
                  <a:srgbClr val="000000"/>
                </a:solidFill>
                <a:ea typeface="Inter"/>
                <a:cs typeface="+mn-lt"/>
              </a:rPr>
              <a:t>MOF </a:t>
            </a:r>
            <a:r>
              <a:rPr lang="zh-CN" altLang="en-US" sz="1600" b="0" i="0">
                <a:solidFill>
                  <a:srgbClr val="000000"/>
                </a:solidFill>
                <a:ea typeface="Inter"/>
                <a:cs typeface="+mn-lt"/>
              </a:rPr>
              <a:t>形成</a:t>
            </a:r>
          </a:p>
          <a:p>
            <a:pPr marL="0" indent="0">
              <a:buNone/>
            </a:pPr>
            <a:r>
              <a:rPr lang="en-US" altLang="zh-CN" sz="1600" b="0" i="0">
                <a:solidFill>
                  <a:srgbClr val="000000"/>
                </a:solidFill>
                <a:ea typeface="Inter"/>
                <a:cs typeface="+mn-lt"/>
              </a:rPr>
              <a:t>2.</a:t>
            </a:r>
            <a:r>
              <a:rPr lang="zh-CN" altLang="en-US" sz="1600" b="0" i="0">
                <a:solidFill>
                  <a:srgbClr val="000000"/>
                </a:solidFill>
                <a:ea typeface="Inter"/>
                <a:cs typeface="+mn-lt"/>
              </a:rPr>
              <a:t>金属离子沉淀，降低产率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901065" y="2403475"/>
            <a:ext cx="348424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1600">
                <a:solidFill>
                  <a:srgbClr val="000000"/>
                </a:solidFill>
                <a:ea typeface="Inter"/>
                <a:cs typeface="+mn-lt"/>
                <a:sym typeface="+mn-ea"/>
              </a:rPr>
              <a:t>干扰 MOF 有序生长，导致产物降低</a:t>
            </a:r>
          </a:p>
        </p:txBody>
      </p:sp>
      <p:graphicFrame>
        <p:nvGraphicFramePr>
          <p:cNvPr id="11" name="对象 10"/>
          <p:cNvGraphicFramePr/>
          <p:nvPr/>
        </p:nvGraphicFramePr>
        <p:xfrm>
          <a:off x="2056765" y="3682365"/>
          <a:ext cx="6703060" cy="18662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0" r:id="rId6" imgW="2781300" imgH="800100" progId="Equation.DSMT4">
                  <p:embed/>
                </p:oleObj>
              </mc:Choice>
              <mc:Fallback>
                <p:oleObj r:id="rId6" imgW="2781300" imgH="8001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56765" y="3682365"/>
                        <a:ext cx="6703060" cy="18662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1247140" y="3789680"/>
            <a:ext cx="746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</a:rPr>
              <a:t>水解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1203325" y="4433570"/>
            <a:ext cx="746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</a:rPr>
              <a:t>沉淀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643890" y="4961255"/>
            <a:ext cx="13055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极端碱性条件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</a:rPr>
              <a:t>偏铝酸盐</a:t>
            </a: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030" y="342265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步骤二</a:t>
            </a:r>
          </a:p>
        </p:txBody>
      </p:sp>
      <p:graphicFrame>
        <p:nvGraphicFramePr>
          <p:cNvPr id="4" name="对象 3"/>
          <p:cNvGraphicFramePr/>
          <p:nvPr/>
        </p:nvGraphicFramePr>
        <p:xfrm>
          <a:off x="690245" y="1396365"/>
          <a:ext cx="10480040" cy="20707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r:id="rId4" imgW="3860800" imgH="774065" progId="Equation.DSMT4">
                  <p:embed/>
                </p:oleObj>
              </mc:Choice>
              <mc:Fallback>
                <p:oleObj r:id="rId4" imgW="3860800" imgH="774065" progId="Equation.DSMT4">
                  <p:embed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90245" y="1396365"/>
                        <a:ext cx="10480040" cy="20707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3298190" y="2748280"/>
            <a:ext cx="1303020" cy="855980"/>
          </a:xfrm>
          <a:prstGeom prst="rect">
            <a:avLst/>
          </a:prstGeom>
          <a:noFill/>
          <a:ln w="5715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34035" y="929640"/>
            <a:ext cx="217424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/>
            <a:r>
              <a:rPr lang="zh-CN" altLang="en-US" sz="1600" b="0" i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需要存在少量的</a:t>
            </a:r>
            <a:r>
              <a:rPr lang="en-US" altLang="zh-CN" sz="1600" b="0" i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NaOH </a:t>
            </a:r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13360" y="170180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/>
              <a:t>UTSA-16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636905" y="3947160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步骤一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83845" y="311277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36905" y="5307330"/>
            <a:ext cx="1233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步骤二</a:t>
            </a:r>
          </a:p>
        </p:txBody>
      </p:sp>
      <p:graphicFrame>
        <p:nvGraphicFramePr>
          <p:cNvPr id="3" name="对象 2"/>
          <p:cNvGraphicFramePr/>
          <p:nvPr/>
        </p:nvGraphicFramePr>
        <p:xfrm>
          <a:off x="704215" y="4505325"/>
          <a:ext cx="8364855" cy="612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7" r:id="rId4" imgW="2362200" imgH="228600" progId="Equation.DSMT4">
                  <p:embed/>
                </p:oleObj>
              </mc:Choice>
              <mc:Fallback>
                <p:oleObj r:id="rId4" imgW="2362200" imgH="2286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4215" y="4505325"/>
                        <a:ext cx="8364855" cy="612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/>
          <p:nvPr/>
        </p:nvGraphicFramePr>
        <p:xfrm>
          <a:off x="636905" y="6088380"/>
          <a:ext cx="8472805" cy="5803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8" r:id="rId6" imgW="3568700" imgH="241300" progId="Equation.DSMT4">
                  <p:embed/>
                </p:oleObj>
              </mc:Choice>
              <mc:Fallback>
                <p:oleObj r:id="rId6" imgW="3568700" imgH="2413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36905" y="6088380"/>
                        <a:ext cx="8472805" cy="5803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图片 11" descr="268e5747bcbc216865845fbd2771fe0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74035" y="367665"/>
            <a:ext cx="2296160" cy="1577340"/>
          </a:xfrm>
          <a:prstGeom prst="rect">
            <a:avLst/>
          </a:prstGeom>
        </p:spPr>
      </p:pic>
      <p:pic>
        <p:nvPicPr>
          <p:cNvPr id="13" name="图片 12" descr="791e996dcee844a32028a89521cc37d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4835" y="367665"/>
            <a:ext cx="2678430" cy="114808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519805" y="1827530"/>
            <a:ext cx="140398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一水柠檬酸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3609340" y="2195830"/>
            <a:ext cx="12255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C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MS Gothic" panose="020B0609070205080204" charset="-128"/>
                <a:sym typeface="+mn-ea"/>
              </a:rPr>
              <a:t>₆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H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MS Gothic" panose="020B0609070205080204" charset="-128"/>
                <a:sym typeface="+mn-ea"/>
              </a:rPr>
              <a:t>₈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O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MS Gothic" panose="020B0609070205080204" charset="-128"/>
                <a:sym typeface="+mn-ea"/>
              </a:rPr>
              <a:t>₇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·H₂O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5972810" y="1778000"/>
            <a:ext cx="20618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醋酸钴四水合物</a:t>
            </a:r>
          </a:p>
        </p:txBody>
      </p:sp>
      <p:cxnSp>
        <p:nvCxnSpPr>
          <p:cNvPr id="17" name="直接连接符 16"/>
          <p:cNvCxnSpPr/>
          <p:nvPr/>
        </p:nvCxnSpPr>
        <p:spPr>
          <a:xfrm>
            <a:off x="3594100" y="261493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6121400" y="2195830"/>
            <a:ext cx="13468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Co(OAc)₂·4H₂O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972810" y="261366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808720" y="1827530"/>
            <a:ext cx="115379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氢氧化钾</a:t>
            </a:r>
            <a:endParaRPr lang="zh-CN" altLang="en-US"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8785860" y="2245360"/>
            <a:ext cx="13468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KOH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10386060" y="2302510"/>
            <a:ext cx="134683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C</a:t>
            </a:r>
            <a:r>
              <a:rPr lang="en-US" altLang="en-US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₂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H</a:t>
            </a:r>
            <a:r>
              <a:rPr lang="en-US" altLang="en-US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₅</a:t>
            </a:r>
            <a:r>
              <a:rPr lang="en-US" altLang="zh-CN" sz="12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sym typeface="+mn-ea"/>
              </a:rPr>
              <a:t>OH</a:t>
            </a:r>
          </a:p>
          <a:p>
            <a:pPr marL="0"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20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0736580" y="1827530"/>
            <a:ext cx="64579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乙醇</a:t>
            </a:r>
          </a:p>
        </p:txBody>
      </p:sp>
      <p:cxnSp>
        <p:nvCxnSpPr>
          <p:cNvPr id="26" name="直接连接符 25"/>
          <p:cNvCxnSpPr/>
          <p:nvPr/>
        </p:nvCxnSpPr>
        <p:spPr>
          <a:xfrm>
            <a:off x="8557260" y="266319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1930400" y="3957955"/>
            <a:ext cx="69215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由于</a:t>
            </a:r>
            <a:r>
              <a:rPr lang="en-US" altLang="zh-CN"/>
              <a:t> KOH </a:t>
            </a:r>
            <a:r>
              <a:rPr lang="zh-CN" altLang="en-US"/>
              <a:t>过量，柠檬酸的三个羧基均被中和，生成柠檬酸钾和水。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644650" y="5307330"/>
            <a:ext cx="76771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在中性或弱碱性条件下，</a:t>
            </a:r>
            <a:r>
              <a:rPr lang="en-US" altLang="zh-CN"/>
              <a:t>Co 2+</a:t>
            </a:r>
            <a:r>
              <a:rPr lang="zh-CN" altLang="en-US"/>
              <a:t>易与</a:t>
            </a:r>
            <a:r>
              <a:rPr lang="en-US" altLang="zh-CN"/>
              <a:t>OH −</a:t>
            </a:r>
            <a:r>
              <a:rPr lang="zh-CN" altLang="en-US"/>
              <a:t>结合生成氢氧化钴沉淀</a:t>
            </a:r>
            <a:r>
              <a:rPr lang="en-US" altLang="zh-CN"/>
              <a:t>Co(OH) 2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76860" y="170180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/>
              <a:t>MOF-801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6770" y="876935"/>
            <a:ext cx="2457450" cy="1670050"/>
          </a:xfrm>
          <a:prstGeom prst="rect">
            <a:avLst/>
          </a:prstGeom>
        </p:spPr>
      </p:pic>
      <p:pic>
        <p:nvPicPr>
          <p:cNvPr id="9" name="图片 8" descr="7303026d04e138b8e6d76a9a635979b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2455" y="1019175"/>
            <a:ext cx="1470025" cy="12655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6160" y="979170"/>
            <a:ext cx="1371600" cy="14986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34975" y="393446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7"/>
          <a:srcRect l="8702"/>
          <a:stretch>
            <a:fillRect/>
          </a:stretch>
        </p:blipFill>
        <p:spPr>
          <a:xfrm>
            <a:off x="8630285" y="393065"/>
            <a:ext cx="3324860" cy="2670810"/>
          </a:xfrm>
          <a:prstGeom prst="rect">
            <a:avLst/>
          </a:prstGeom>
        </p:spPr>
      </p:pic>
      <p:graphicFrame>
        <p:nvGraphicFramePr>
          <p:cNvPr id="18" name="对象 17"/>
          <p:cNvGraphicFramePr/>
          <p:nvPr>
            <p:extLst>
              <p:ext uri="{D42A27DB-BD31-4B8C-83A1-F6EECF244321}">
                <p14:modId xmlns:p14="http://schemas.microsoft.com/office/powerpoint/2010/main" val="2097501182"/>
              </p:ext>
            </p:extLst>
          </p:nvPr>
        </p:nvGraphicFramePr>
        <p:xfrm>
          <a:off x="498475" y="4705032"/>
          <a:ext cx="11798300" cy="1982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r:id="rId8" imgW="4419600" imgH="736600" progId="Equation.DSMT4">
                  <p:embed/>
                </p:oleObj>
              </mc:Choice>
              <mc:Fallback>
                <p:oleObj r:id="rId8" imgW="4419600" imgH="736600" progId="Equation.DSMT4">
                  <p:embed/>
                  <p:pic>
                    <p:nvPicPr>
                      <p:cNvPr id="0" name="图片 18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98475" y="4705032"/>
                        <a:ext cx="11798300" cy="1982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/>
          <p:cNvSpPr txBox="1"/>
          <p:nvPr/>
        </p:nvSpPr>
        <p:spPr>
          <a:xfrm>
            <a:off x="2096770" y="2368550"/>
            <a:ext cx="23368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富马酸（反丁烯二酸）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77490" y="2829560"/>
            <a:ext cx="97536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4636135" y="2368550"/>
            <a:ext cx="19996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八水合氧氯化锆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854575" y="2829560"/>
            <a:ext cx="135318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ZrOCl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·8H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7232650" y="2399665"/>
            <a:ext cx="90106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甲酸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025005" y="2778125"/>
            <a:ext cx="95250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HCOOH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81280" y="2368550"/>
            <a:ext cx="20758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N,N-二甲基甲酰胺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652145" y="2829560"/>
            <a:ext cx="93345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3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7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NO</a:t>
            </a:r>
          </a:p>
        </p:txBody>
      </p:sp>
      <p:cxnSp>
        <p:nvCxnSpPr>
          <p:cNvPr id="28" name="直接连接符 27"/>
          <p:cNvCxnSpPr/>
          <p:nvPr/>
        </p:nvCxnSpPr>
        <p:spPr>
          <a:xfrm>
            <a:off x="2550795" y="323850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683760" y="3259455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76860" y="170180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/>
              <a:t>MOF-801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6770" y="876935"/>
            <a:ext cx="2457450" cy="1670050"/>
          </a:xfrm>
          <a:prstGeom prst="rect">
            <a:avLst/>
          </a:prstGeom>
        </p:spPr>
      </p:pic>
      <p:pic>
        <p:nvPicPr>
          <p:cNvPr id="9" name="图片 8" descr="7303026d04e138b8e6d76a9a635979b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2455" y="1019175"/>
            <a:ext cx="1470025" cy="12655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6160" y="979170"/>
            <a:ext cx="1371600" cy="14986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34975" y="393446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6"/>
          <a:srcRect l="8702"/>
          <a:stretch>
            <a:fillRect/>
          </a:stretch>
        </p:blipFill>
        <p:spPr>
          <a:xfrm>
            <a:off x="8630285" y="393065"/>
            <a:ext cx="3324860" cy="267081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096770" y="2368550"/>
            <a:ext cx="23368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富马酸（反丁烯二酸）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77490" y="2829560"/>
            <a:ext cx="97536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4636135" y="2368550"/>
            <a:ext cx="19996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八水合氧氯化锆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854575" y="2829560"/>
            <a:ext cx="135318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ZrOCl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·8H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7232650" y="2399665"/>
            <a:ext cx="90106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甲酸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025005" y="2778125"/>
            <a:ext cx="95250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HCOOH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81280" y="2368550"/>
            <a:ext cx="20758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 algn="l">
              <a:buClrTx/>
              <a:buSzTx/>
              <a:buFontTx/>
            </a:pPr>
            <a:r>
              <a:rPr lang="zh-CN" altLang="en-US">
                <a:sym typeface="+mn-ea"/>
              </a:rPr>
              <a:t>N,N-二甲基甲酰胺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652145" y="2829560"/>
            <a:ext cx="93345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3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7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NO</a:t>
            </a:r>
          </a:p>
        </p:txBody>
      </p:sp>
      <p:cxnSp>
        <p:nvCxnSpPr>
          <p:cNvPr id="28" name="直接连接符 27"/>
          <p:cNvCxnSpPr/>
          <p:nvPr/>
        </p:nvCxnSpPr>
        <p:spPr>
          <a:xfrm>
            <a:off x="2550795" y="323850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683760" y="3259455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对象 29">
                <a:extLst>
                  <a:ext uri="{FF2B5EF4-FFF2-40B4-BE49-F238E27FC236}">
                    <a16:creationId xmlns:a16="http://schemas.microsoft.com/office/drawing/2014/main" id="{949F0F14-29A3-47AC-BCEA-E6B2B30DC514}"/>
                  </a:ext>
                </a:extLst>
              </p:cNvPr>
              <p:cNvSpPr txBox="1"/>
              <p:nvPr/>
            </p:nvSpPr>
            <p:spPr>
              <a:xfrm>
                <a:off x="-239872" y="4989513"/>
                <a:ext cx="12641422" cy="2052634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𝑍𝑟𝑂𝐶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​⋅8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4+</m:t>
                          </m:r>
                        </m:sup>
                      </m:sSup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+9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</m:oMath>
                    <m:oMath xmlns:m="http://schemas.openxmlformats.org/officeDocument/2006/math"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𝐻𝑂𝑂𝐶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𝐶𝑂𝑂𝐻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𝑂𝑂𝐶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𝐶𝑂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p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𝑍𝑟𝑂𝐶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​⋅8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2​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+12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​→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6​</m:t>
                          </m:r>
                        </m:sub>
                      </m:sSub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4​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𝑂𝐻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​(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​+12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𝐻𝐶𝑙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+42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zh-CN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0" name="对象 29">
                <a:extLst>
                  <a:ext uri="{FF2B5EF4-FFF2-40B4-BE49-F238E27FC236}">
                    <a16:creationId xmlns:a16="http://schemas.microsoft.com/office/drawing/2014/main" id="{949F0F14-29A3-47AC-BCEA-E6B2B30DC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9872" y="4989513"/>
                <a:ext cx="12641422" cy="205263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217930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86715" y="318135"/>
            <a:ext cx="289623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富马酸（反丁烯二酸）水解</a:t>
            </a:r>
          </a:p>
        </p:txBody>
      </p:sp>
      <p:graphicFrame>
        <p:nvGraphicFramePr>
          <p:cNvPr id="5" name="对象 4"/>
          <p:cNvGraphicFramePr/>
          <p:nvPr/>
        </p:nvGraphicFramePr>
        <p:xfrm>
          <a:off x="538480" y="1030605"/>
          <a:ext cx="10803255" cy="11258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r:id="rId4" imgW="4114800" imgH="457200" progId="Equation.DSMT4">
                  <p:embed/>
                </p:oleObj>
              </mc:Choice>
              <mc:Fallback>
                <p:oleObj r:id="rId4" imgW="4114800" imgH="457200" progId="Equation.DSMT4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38480" y="1030605"/>
                        <a:ext cx="10803255" cy="11258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538480" y="2486025"/>
            <a:ext cx="59118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甲酸用于抑制富马酸的第二步解离，使得反应缓慢进行</a:t>
            </a:r>
          </a:p>
        </p:txBody>
      </p: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76860" y="170180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/>
              <a:t>MIL-101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rcRect l="1407" t="2509"/>
          <a:stretch>
            <a:fillRect/>
          </a:stretch>
        </p:blipFill>
        <p:spPr>
          <a:xfrm>
            <a:off x="459740" y="1290955"/>
            <a:ext cx="1805940" cy="1212850"/>
          </a:xfrm>
          <a:prstGeom prst="rect">
            <a:avLst/>
          </a:prstGeom>
        </p:spPr>
      </p:pic>
      <p:pic>
        <p:nvPicPr>
          <p:cNvPr id="8" name="图片 7" descr="c0409f59a02a5ddaac35dd98c1c66f2c"/>
          <p:cNvPicPr>
            <a:picLocks noChangeAspect="1"/>
          </p:cNvPicPr>
          <p:nvPr/>
        </p:nvPicPr>
        <p:blipFill>
          <a:blip r:embed="rId5"/>
          <a:srcRect r="4783"/>
          <a:stretch>
            <a:fillRect/>
          </a:stretch>
        </p:blipFill>
        <p:spPr>
          <a:xfrm>
            <a:off x="2472690" y="748030"/>
            <a:ext cx="2680335" cy="2376170"/>
          </a:xfrm>
          <a:prstGeom prst="rect">
            <a:avLst/>
          </a:prstGeom>
        </p:spPr>
      </p:pic>
      <p:pic>
        <p:nvPicPr>
          <p:cNvPr id="27" name="图片 26" descr="ad0a5f016cdb984dd0c36128824a27c3"/>
          <p:cNvPicPr>
            <a:picLocks noChangeAspect="1"/>
          </p:cNvPicPr>
          <p:nvPr/>
        </p:nvPicPr>
        <p:blipFill>
          <a:blip r:embed="rId6"/>
          <a:srcRect b="12629"/>
          <a:stretch>
            <a:fillRect/>
          </a:stretch>
        </p:blipFill>
        <p:spPr>
          <a:xfrm>
            <a:off x="6299200" y="600075"/>
            <a:ext cx="2765425" cy="2416175"/>
          </a:xfrm>
          <a:prstGeom prst="rect">
            <a:avLst/>
          </a:prstGeom>
        </p:spPr>
      </p:pic>
      <p:pic>
        <p:nvPicPr>
          <p:cNvPr id="28" name="图片 27" descr="e9091117c9270ca788d3021988f9655b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5415" y="528955"/>
            <a:ext cx="2983865" cy="273621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276860" y="448945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graphicFrame>
        <p:nvGraphicFramePr>
          <p:cNvPr id="32" name="对象 31"/>
          <p:cNvGraphicFramePr/>
          <p:nvPr/>
        </p:nvGraphicFramePr>
        <p:xfrm>
          <a:off x="276860" y="5183505"/>
          <a:ext cx="11393805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r:id="rId8" imgW="10201910" imgH="630555" progId="Equation.DSMT4">
                  <p:embed/>
                </p:oleObj>
              </mc:Choice>
              <mc:Fallback>
                <p:oleObj r:id="rId8" imgW="10201910" imgH="630555" progId="Equation.DSMT4">
                  <p:embed/>
                  <p:pic>
                    <p:nvPicPr>
                      <p:cNvPr id="0" name="图片 29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6860" y="5183505"/>
                        <a:ext cx="11393805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文本框 33"/>
          <p:cNvSpPr txBox="1"/>
          <p:nvPr/>
        </p:nvSpPr>
        <p:spPr>
          <a:xfrm>
            <a:off x="510540" y="2917825"/>
            <a:ext cx="130873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spcBef>
                <a:spcPct val="0"/>
              </a:spcBef>
              <a:spcAft>
                <a:spcPct val="0"/>
              </a:spcAft>
            </a:pPr>
            <a:r>
              <a:rPr lang="zh-CN" sz="16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对苯二甲酸（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  <a:sym typeface="+mn-ea"/>
              </a:rPr>
              <a:t>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  <a:sym typeface="+mn-ea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  <a:sym typeface="+mn-ea"/>
              </a:rPr>
              <a:t>BDC</a:t>
            </a:r>
            <a:r>
              <a:rPr lang="zh-CN" sz="16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）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888615" y="2917825"/>
            <a:ext cx="205105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硝酸铬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(III)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九水合物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Cr(NO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3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)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3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·9H</a:t>
            </a:r>
            <a:r>
              <a:rPr lang="en-US" altLang="zh-CN" sz="1600" baseline="-25000">
                <a:latin typeface="Times New Roman" panose="02020603050405020304"/>
                <a:ea typeface="宋体" panose="02010600030101010101" pitchFamily="2" charset="-122"/>
              </a:rPr>
              <a:t>2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5360035" y="2917825"/>
            <a:ext cx="111760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氢氟酸（</a:t>
            </a:r>
            <a:r>
              <a:rPr lang="en-US" altLang="zh-CN" sz="1600">
                <a:latin typeface="Times New Roman" panose="02020603050405020304"/>
                <a:ea typeface="宋体" panose="02010600030101010101" pitchFamily="2" charset="-122"/>
              </a:rPr>
              <a:t>HF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</a:p>
        </p:txBody>
      </p:sp>
      <p:cxnSp>
        <p:nvCxnSpPr>
          <p:cNvPr id="37" name="直接连接符 36"/>
          <p:cNvCxnSpPr/>
          <p:nvPr/>
        </p:nvCxnSpPr>
        <p:spPr>
          <a:xfrm>
            <a:off x="332105" y="355600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2973705" y="359410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5401945" y="3594100"/>
            <a:ext cx="107569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76860" y="170180"/>
            <a:ext cx="25285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/>
              <a:t>Uio-66</a:t>
            </a:r>
          </a:p>
        </p:txBody>
      </p:sp>
      <p:pic>
        <p:nvPicPr>
          <p:cNvPr id="6" name="图片 5" descr="10.14135-j.cnki.1006-3080.20210609002-Figure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485" y="514985"/>
            <a:ext cx="6677025" cy="249301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60350" y="2654300"/>
            <a:ext cx="120713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spcBef>
                <a:spcPct val="0"/>
              </a:spcBef>
              <a:spcAft>
                <a:spcPct val="0"/>
              </a:spcAft>
            </a:pP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四氯化锆（</a:t>
            </a:r>
            <a:r>
              <a:rPr lang="en-US" altLang="zh-CN" sz="1200">
                <a:latin typeface="Times New Roman" panose="02020603050405020304"/>
                <a:ea typeface="宋体" panose="02010600030101010101" pitchFamily="2" charset="-122"/>
                <a:sym typeface="+mn-ea"/>
              </a:rPr>
              <a:t>ZrCl</a:t>
            </a:r>
            <a:r>
              <a:rPr lang="en-US" altLang="zh-CN" sz="1200" baseline="-25000">
                <a:latin typeface="Times New Roman" panose="02020603050405020304"/>
                <a:ea typeface="宋体" panose="02010600030101010101" pitchFamily="2" charset="-122"/>
                <a:sym typeface="+mn-ea"/>
              </a:rPr>
              <a:t>4</a:t>
            </a: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）</a:t>
            </a:r>
            <a:endParaRPr lang="zh-CN" altLang="en-US" sz="12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482850" y="2654935"/>
            <a:ext cx="130873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spcBef>
                <a:spcPct val="0"/>
              </a:spcBef>
              <a:spcAft>
                <a:spcPct val="0"/>
              </a:spcAft>
            </a:pP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对苯二甲酸（</a:t>
            </a:r>
            <a:r>
              <a:rPr lang="en-US" altLang="zh-CN" sz="1200">
                <a:latin typeface="Times New Roman" panose="02020603050405020304"/>
                <a:ea typeface="宋体" panose="02010600030101010101" pitchFamily="2" charset="-122"/>
                <a:sym typeface="+mn-ea"/>
              </a:rPr>
              <a:t>H</a:t>
            </a:r>
            <a:r>
              <a:rPr lang="en-US" altLang="zh-CN" sz="1200" baseline="-25000">
                <a:latin typeface="Times New Roman" panose="02020603050405020304"/>
                <a:ea typeface="宋体" panose="02010600030101010101" pitchFamily="2" charset="-122"/>
                <a:sym typeface="+mn-ea"/>
              </a:rPr>
              <a:t>2</a:t>
            </a:r>
            <a:r>
              <a:rPr lang="en-US" altLang="zh-CN" sz="1200">
                <a:latin typeface="Times New Roman" panose="02020603050405020304"/>
                <a:ea typeface="宋体" panose="02010600030101010101" pitchFamily="2" charset="-122"/>
                <a:sym typeface="+mn-ea"/>
              </a:rPr>
              <a:t>BDC</a:t>
            </a: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）</a:t>
            </a:r>
            <a:endParaRPr lang="zh-CN" altLang="en-US" sz="12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 flipH="1">
            <a:off x="4165600" y="2654935"/>
            <a:ext cx="146748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200">
                <a:latin typeface="Times New Roman" panose="02020603050405020304"/>
                <a:ea typeface="宋体" panose="02010600030101010101" pitchFamily="2" charset="-122"/>
                <a:sym typeface="+mn-ea"/>
              </a:rPr>
              <a:t>N,N-</a:t>
            </a: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二甲基甲酰（</a:t>
            </a:r>
            <a:r>
              <a:rPr lang="en-US" altLang="zh-CN" sz="1200">
                <a:latin typeface="Times New Roman" panose="02020603050405020304"/>
                <a:ea typeface="宋体" panose="02010600030101010101" pitchFamily="2" charset="-122"/>
                <a:sym typeface="+mn-ea"/>
              </a:rPr>
              <a:t>DMF</a:t>
            </a:r>
            <a:r>
              <a:rPr lang="zh-CN" sz="12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）</a:t>
            </a:r>
            <a:endParaRPr lang="zh-CN" altLang="en-US" sz="12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5" name="图片 14" descr="b2ed30e8f2eca05e308396271214ee8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50" y="990600"/>
            <a:ext cx="1595120" cy="155003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6"/>
          <a:srcRect l="1407" t="2509"/>
          <a:stretch>
            <a:fillRect/>
          </a:stretch>
        </p:blipFill>
        <p:spPr>
          <a:xfrm>
            <a:off x="2288540" y="1159510"/>
            <a:ext cx="1805940" cy="1212850"/>
          </a:xfrm>
          <a:prstGeom prst="rect">
            <a:avLst/>
          </a:prstGeom>
        </p:spPr>
      </p:pic>
      <p:cxnSp>
        <p:nvCxnSpPr>
          <p:cNvPr id="37" name="直接连接符 36"/>
          <p:cNvCxnSpPr/>
          <p:nvPr/>
        </p:nvCxnSpPr>
        <p:spPr>
          <a:xfrm>
            <a:off x="260350" y="322834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2267585" y="3228340"/>
            <a:ext cx="1524000" cy="0"/>
          </a:xfrm>
          <a:prstGeom prst="line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/>
          <p:nvPr/>
        </p:nvGraphicFramePr>
        <p:xfrm>
          <a:off x="530860" y="4335780"/>
          <a:ext cx="9705340" cy="574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r:id="rId7" imgW="3263900" imgH="241300" progId="Equation.DSMT4">
                  <p:embed/>
                </p:oleObj>
              </mc:Choice>
              <mc:Fallback>
                <p:oleObj r:id="rId7" imgW="3263900" imgH="241300" progId="Equation.DSMT4">
                  <p:embed/>
                  <p:pic>
                    <p:nvPicPr>
                      <p:cNvPr id="0" name="图片 1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30860" y="4335780"/>
                        <a:ext cx="9705340" cy="5740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文本框 19"/>
          <p:cNvSpPr txBox="1"/>
          <p:nvPr/>
        </p:nvSpPr>
        <p:spPr>
          <a:xfrm>
            <a:off x="260350" y="3731260"/>
            <a:ext cx="15792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主反应</a:t>
            </a:r>
            <a:r>
              <a:rPr lang="en-US" altLang="zh-CN" sz="2800"/>
              <a:t>: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991360" y="3808095"/>
            <a:ext cx="22923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是否需要调节</a:t>
            </a:r>
            <a:r>
              <a:rPr lang="en-US" altLang="zh-CN"/>
              <a:t>PH</a:t>
            </a:r>
            <a:r>
              <a:rPr lang="zh-CN" altLang="en-US"/>
              <a:t>值？</a:t>
            </a:r>
          </a:p>
        </p:txBody>
      </p: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9baec681406614f046c9a0daec6d9c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1018540"/>
            <a:ext cx="11161395" cy="407733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418</Words>
  <Application>Microsoft Office PowerPoint</Application>
  <PresentationFormat>宽屏</PresentationFormat>
  <Paragraphs>71</Paragraphs>
  <Slides>11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Inter</vt:lpstr>
      <vt:lpstr>MS Gothic</vt:lpstr>
      <vt:lpstr>宋体</vt:lpstr>
      <vt:lpstr>微软雅黑</vt:lpstr>
      <vt:lpstr>Arial</vt:lpstr>
      <vt:lpstr>Cambria Math</vt:lpstr>
      <vt:lpstr>Times New Roman</vt:lpstr>
      <vt:lpstr>Wingdings</vt:lpstr>
      <vt:lpstr>WPS</vt:lpstr>
      <vt:lpstr>Equation.DSMT4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PC</dc:creator>
  <cp:lastModifiedBy>PC</cp:lastModifiedBy>
  <cp:revision>196</cp:revision>
  <dcterms:created xsi:type="dcterms:W3CDTF">2019-06-19T02:08:00Z</dcterms:created>
  <dcterms:modified xsi:type="dcterms:W3CDTF">2026-06-22T03:45:41Z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8B6DC932D0ED4558B635C15DD74F1465_11</vt:lpwstr>
  </property>
</Properties>
</file>